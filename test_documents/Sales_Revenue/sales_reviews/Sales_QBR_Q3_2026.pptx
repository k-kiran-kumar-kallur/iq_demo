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Quarterly revenue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Sheet1!$A$2:$A$8</c:f>
              <c:strCache>
                <c:ptCount val="7"/>
                <c:pt idx="0">
                  <c:v>2025-Q1</c:v>
                </c:pt>
                <c:pt idx="1">
                  <c:v>2025-Q2</c:v>
                </c:pt>
                <c:pt idx="2">
                  <c:v>2025-Q3</c:v>
                </c:pt>
                <c:pt idx="3">
                  <c:v>2025-Q4</c:v>
                </c:pt>
                <c:pt idx="4">
                  <c:v>2026-Q1</c:v>
                </c:pt>
                <c:pt idx="5">
                  <c:v>2026-Q2</c:v>
                </c:pt>
                <c:pt idx="6">
                  <c:v>2026-Q3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3.26</c:v>
                </c:pt>
                <c:pt idx="1">
                  <c:v>3.88</c:v>
                </c:pt>
                <c:pt idx="2">
                  <c:v>4.11</c:v>
                </c:pt>
                <c:pt idx="3">
                  <c:v>4.1</c:v>
                </c:pt>
                <c:pt idx="4">
                  <c:v>4.67</c:v>
                </c:pt>
                <c:pt idx="5">
                  <c:v>4.88</c:v>
                </c:pt>
                <c:pt idx="6">
                  <c:v>5.09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9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Pipeline by stage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TCV $M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1 - Qualify</c:v>
                </c:pt>
                <c:pt idx="1">
                  <c:v>2 - Discover</c:v>
                </c:pt>
                <c:pt idx="2">
                  <c:v>3 - Solution</c:v>
                </c:pt>
                <c:pt idx="3">
                  <c:v>4 - Proposal</c:v>
                </c:pt>
                <c:pt idx="4">
                  <c:v>5 - Negotiate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</c:v>
                </c:pt>
                <c:pt idx="1">
                  <c:v>8.68</c:v>
                </c:pt>
                <c:pt idx="2">
                  <c:v>11.72</c:v>
                </c:pt>
                <c:pt idx="3">
                  <c:v>12.1</c:v>
                </c:pt>
                <c:pt idx="4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$M</c:v>
                </c:pt>
              </c:strCache>
            </c:strRef>
          </c:tx>
          <c:spPr>
            <a:solidFill>
              <a:srgbClr val="0F7C90"/>
            </a:solidFill>
          </c:spPr>
          <c:cat>
            <c:strRef>
              <c:f>Sheet1!$A$2:$A$6</c:f>
              <c:strCache>
                <c:ptCount val="5"/>
                <c:pt idx="0">
                  <c:v>1 - Qualify</c:v>
                </c:pt>
                <c:pt idx="1">
                  <c:v>2 - Discover</c:v>
                </c:pt>
                <c:pt idx="2">
                  <c:v>3 - Solution</c:v>
                </c:pt>
                <c:pt idx="3">
                  <c:v>4 - Proposal</c:v>
                </c:pt>
                <c:pt idx="4">
                  <c:v>5 - Negotiate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0.14</c:v>
                </c:pt>
                <c:pt idx="1">
                  <c:v>2.88</c:v>
                </c:pt>
                <c:pt idx="2">
                  <c:v>4.74</c:v>
                </c:pt>
                <c:pt idx="3">
                  <c:v>6.74</c:v>
                </c:pt>
                <c:pt idx="4">
                  <c:v>2.04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9E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Renewal ACV by contract end ($K)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ACV $K</c:v>
                </c:pt>
              </c:strCache>
            </c:strRef>
          </c:tx>
          <c:spPr>
            <a:solidFill>
              <a:srgbClr val="0F7C90"/>
            </a:solidFill>
          </c:spPr>
          <c:cat>
            <c:strRef>
              <c:f>Sheet1!$A$2:$A$8</c:f>
              <c:strCache>
                <c:ptCount val="7"/>
                <c:pt idx="0">
                  <c:v>Lamna Healthcare (Mar 27)</c:v>
                </c:pt>
                <c:pt idx="1">
                  <c:v>Wingtip Logistics (Mar 27)</c:v>
                </c:pt>
                <c:pt idx="2">
                  <c:v>Northwind Traders (Feb 27)</c:v>
                </c:pt>
                <c:pt idx="3">
                  <c:v>Woodgrove Bank (Jan 27)</c:v>
                </c:pt>
                <c:pt idx="4">
                  <c:v>Fabrikam Health (Dec 26)</c:v>
                </c:pt>
                <c:pt idx="5">
                  <c:v>Wide World Importers (Dec 26)</c:v>
                </c:pt>
                <c:pt idx="6">
                  <c:v>Relecloud (Nov 26)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840.0</c:v>
                </c:pt>
                <c:pt idx="1">
                  <c:v>240.0</c:v>
                </c:pt>
                <c:pt idx="2">
                  <c:v>1450.0</c:v>
                </c:pt>
                <c:pt idx="3">
                  <c:v>820.0</c:v>
                </c:pt>
                <c:pt idx="4">
                  <c:v>760.0</c:v>
                </c:pt>
                <c:pt idx="5">
                  <c:v>1000.0</c:v>
                </c:pt>
                <c:pt idx="6">
                  <c:v>2200.0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9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Sales QBR: Q3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Revenue, pipeline, forecast and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Laura Chen, CRO  |  7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Sales QBR Q3 2026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CONFIDENTIAL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Revenue is up 30% year to date and behind plan by $172,292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Sales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"/>
              </a:rPr>
              <a:t>$14.63M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Revenue YTD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Jan-Sep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"/>
              </a:rPr>
              <a:t>+29.9%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vs prior YTD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$11.26M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"/>
              </a:rPr>
              <a:t>$5.36M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Bookings YTD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10 deals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New logos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Alpine, Fourth Coffee, Proseware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926080"/>
          <a:ext cx="112471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PIPELINE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Open pipeline is $35.35M, $16.53M weighted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Sales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583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645920"/>
            <a:ext cx="438912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Largest: Calder Insurance $5.8M (RFP, stage 3) and Northwind AMS renewal $4.2M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Proposal stage holds 6 deals; 4 close by 30 Nov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1 stalled deal: Northwind Loyalty Analytics (55 days idle)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Partner-attached: 13 of 20 open deals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RISK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Four deals carry most of the Q4 and FY27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Sales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3429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26080"/>
                <a:gridCol w="1005840"/>
                <a:gridCol w="822960"/>
                <a:gridCol w="3291840"/>
                <a:gridCol w="32004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Deal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Reason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Northwind Traders - FY27 Managed AMS Renewal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$4.20M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8D7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Atlas red, CSAT 6.1, sponsor exited, Infosys pitching AMS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Recovery plan 8 Oct; CRO engagement; renewal options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Wide World Importers - WMS Support Renewal FY27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$1.10M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8D7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Wipro ~18% lower; CFO-led 12% IT cost cut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CFO meeting 13 Oct; offer automation-led 10% reduction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Relecloud - AIOps Managed Services Renewal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$2.40M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0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Legal redlines on SLA credits; contract ends 30 Nov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Escalate redlines to GC; target signature 13 Nov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Tailspin Airlines - Crew Operations Platform Modernisation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$2.20M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0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Decision slipped a week; TCS incumbent on crew systems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Union rules demo 7 Oct; reference calls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RENEWALS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Renewals: $7.31M of ACV is due in 180 days, $2.45M at high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Sales QBR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QBR Q3 2026</dc:title>
  <dc:subject/>
  <dc:creator>Laura Chen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Confidential</cp:category>
</cp:coreProperties>
</file>