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85800" y="731520"/>
            <a:ext cx="502920" cy="502920"/>
          </a:xfrm>
          <a:prstGeom prst="ellipse">
            <a:avLst/>
          </a:prstGeom>
          <a:solidFill>
            <a:srgbClr val="0F7C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5880" y="786384"/>
            <a:ext cx="548640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VISIONET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240280"/>
            <a:ext cx="10515600" cy="1463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Win Themes Playbook: FY2027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794760"/>
            <a:ext cx="10515600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000" b="0" i="0">
                <a:solidFill>
                  <a:srgbClr val="CADCFC"/>
                </a:solidFill>
                <a:latin typeface="Arial"/>
              </a:rPr>
              <a:t>Six themes that win, and the proof behind each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120640"/>
            <a:ext cx="105156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AAB4C3"/>
                </a:solidFill>
                <a:latin typeface="Arial"/>
              </a:rPr>
              <a:t>Ravi Shankar, Head of Presales &amp; Solutions  |  September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AAB4C3"/>
                </a:solidFill>
                <a:latin typeface="Arial"/>
              </a:rPr>
              <a:t>Visionet  |  Win Themes Playbook FY2027  |  Fictitious data for testing - Enterprise IQ test corpus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46520"/>
            <a:ext cx="23317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AAB4C3"/>
                </a:solidFill>
                <a:latin typeface="Arial"/>
              </a:rPr>
              <a:t>INTERNAL 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24712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0F7C90"/>
                </a:solidFill>
                <a:latin typeface="Arial"/>
              </a:rPr>
              <a:t>OVERVIEW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457200" y="566928"/>
            <a:ext cx="11247120" cy="777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B2A4A"/>
                </a:solidFill>
                <a:latin typeface="Arial"/>
              </a:rPr>
              <a:t>Six win themes, each backed by a client-verifiable proof 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>Visionet  |  Win Themes Playbook FY2027  |  Fictitious data for testing - Enterprise IQ test corpus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6446520"/>
            <a:ext cx="23317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6B7280"/>
                </a:solidFill>
                <a:latin typeface="Arial"/>
              </a:rPr>
              <a:t>INTERNAL  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3611880" cy="2194560"/>
          </a:xfrm>
          <a:prstGeom prst="roundRect">
            <a:avLst>
              <a:gd name="adj" fmla="val 8000"/>
            </a:avLst>
          </a:prstGeom>
          <a:solidFill>
            <a:srgbClr val="EA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91639"/>
            <a:ext cx="324612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B2A4A"/>
                </a:solidFill>
                <a:latin typeface="Arial"/>
              </a:rPr>
              <a:t>Proof before commitment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3246120" cy="777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1F2937"/>
                </a:solidFill>
                <a:latin typeface="Arial"/>
              </a:rPr>
              <a:t>Run a funded POC on the client's own data before the main contract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017520"/>
            <a:ext cx="324612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 i="1">
                <a:solidFill>
                  <a:srgbClr val="0F7C90"/>
                </a:solidFill>
                <a:latin typeface="Arial"/>
              </a:rPr>
              <a:t>Woodgrove POC: 4.2x faster card-fraud features; Wingtip 6-week POC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554480"/>
            <a:ext cx="3611880" cy="219456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691639"/>
            <a:ext cx="324612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B2A4A"/>
                </a:solidFill>
                <a:latin typeface="Arial"/>
              </a:rPr>
              <a:t>Funded transformation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2194560"/>
            <a:ext cx="3246120" cy="777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1F2937"/>
                </a:solidFill>
                <a:latin typeface="Arial"/>
              </a:rPr>
              <a:t>Use hyperscaler programmes (ECIF, MAP, Azure Innovate) to lower client cost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3017520"/>
            <a:ext cx="324612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 i="1">
                <a:solidFill>
                  <a:srgbClr val="0F7C90"/>
                </a:solidFill>
                <a:latin typeface="Arial"/>
              </a:rPr>
              <a:t>Tailspin MAP credits $210K; Woodgrove ECIF $120K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554480"/>
            <a:ext cx="3611880" cy="2194560"/>
          </a:xfrm>
          <a:prstGeom prst="roundRect">
            <a:avLst>
              <a:gd name="adj" fmla="val 8000"/>
            </a:avLst>
          </a:prstGeom>
          <a:solidFill>
            <a:srgbClr val="EA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691639"/>
            <a:ext cx="324612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B2A4A"/>
                </a:solidFill>
                <a:latin typeface="Arial"/>
              </a:rPr>
              <a:t>Guaranteed productivity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194560"/>
            <a:ext cx="3246120" cy="777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1F2937"/>
                </a:solidFill>
                <a:latin typeface="Arial"/>
              </a:rPr>
              <a:t>AMS renewals with an annual productivity credit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3017520"/>
            <a:ext cx="324612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 i="1">
                <a:solidFill>
                  <a:srgbClr val="0F7C90"/>
                </a:solidFill>
                <a:latin typeface="Arial"/>
              </a:rPr>
              <a:t>Contoso MES renewal: 4% annual credit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931920"/>
            <a:ext cx="3611880" cy="219456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069080"/>
            <a:ext cx="324612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B2A4A"/>
                </a:solidFill>
                <a:latin typeface="Arial"/>
              </a:rPr>
              <a:t>Insurance automation built 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572000"/>
            <a:ext cx="3246120" cy="777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1F2937"/>
                </a:solidFill>
                <a:latin typeface="Arial"/>
              </a:rPr>
              <a:t>IDP and rules-based triage as standard in claims programmes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394960"/>
            <a:ext cx="324612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 i="1">
                <a:solidFill>
                  <a:srgbClr val="0F7C90"/>
                </a:solidFill>
                <a:latin typeface="Arial"/>
              </a:rPr>
              <a:t>Litware: 94% straight-through FNOL classification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51960" y="3931920"/>
            <a:ext cx="3611880" cy="2194560"/>
          </a:xfrm>
          <a:prstGeom prst="roundRect">
            <a:avLst>
              <a:gd name="adj" fmla="val 8000"/>
            </a:avLst>
          </a:prstGeom>
          <a:solidFill>
            <a:srgbClr val="EA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4840" y="4069080"/>
            <a:ext cx="324612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B2A4A"/>
                </a:solidFill>
                <a:latin typeface="Arial"/>
              </a:rPr>
              <a:t>Regulator-ready lineage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4572000"/>
            <a:ext cx="3246120" cy="777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1F2937"/>
                </a:solidFill>
                <a:latin typeface="Arial"/>
              </a:rPr>
              <a:t>Lineage and controls designed for BCBS 239, HIPAA, GxP from day one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40" y="5394960"/>
            <a:ext cx="324612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 i="1">
                <a:solidFill>
                  <a:srgbClr val="0F7C90"/>
                </a:solidFill>
                <a:latin typeface="Arial"/>
              </a:rPr>
              <a:t>Woodgrove POC: 100% lineage for 12 regulatory elements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20" y="3931920"/>
            <a:ext cx="3611880" cy="219456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0" y="4069080"/>
            <a:ext cx="324612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B2A4A"/>
                </a:solidFill>
                <a:latin typeface="Arial"/>
              </a:rPr>
              <a:t>Outcome-linked pricing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4572000"/>
            <a:ext cx="3246120" cy="777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1F2937"/>
                </a:solidFill>
                <a:latin typeface="Arial"/>
              </a:rPr>
              <a:t>Part of the fee tied to a measurable business outcome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5394960"/>
            <a:ext cx="324612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 i="1">
                <a:solidFill>
                  <a:srgbClr val="0F7C90"/>
                </a:solidFill>
                <a:latin typeface="Arial"/>
              </a:rPr>
              <a:t>Wingtip outcome bonus on fuel savings (7.4%)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24712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0F7C90"/>
                </a:solidFill>
                <a:latin typeface="Arial"/>
              </a:rPr>
              <a:t>TRACK RECORD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457200" y="566928"/>
            <a:ext cx="11247120" cy="777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1B2A4A"/>
                </a:solidFill>
                <a:latin typeface="Arial"/>
              </a:rPr>
              <a:t>Where each theme has worked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>Visionet  |  Win Themes Playbook FY2027  |  Fictitious data for testing - Enterprise IQ test corpus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6446520"/>
            <a:ext cx="23317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6B7280"/>
                </a:solidFill>
                <a:latin typeface="Arial"/>
              </a:rPr>
              <a:t>INTERNAL   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08760"/>
          <a:ext cx="11247119" cy="352044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3200400"/>
                <a:gridCol w="3108960"/>
                <a:gridCol w="4937759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Win theme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Best for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Track record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Proof before commitment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Data &amp; AI; BFSI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Won BID-0549; BID-0612 in play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Funded transformation</a:t>
                      </a:r>
                    </a:p>
                  </a:txBody>
                  <a:tcPr marL="54864" marR="54864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Cloud; Data &amp; AI</a:t>
                      </a:r>
                    </a:p>
                  </a:txBody>
                  <a:tcPr marL="54864" marR="54864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Won BID-0557, BID-0588</a:t>
                      </a:r>
                    </a:p>
                  </a:txBody>
                  <a:tcPr marL="54864" marR="54864" marT="27432" marB="27432" anchor="ctr">
                    <a:solidFill>
                      <a:srgbClr val="F3F5F8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Guaranteed productivity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Managed Services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Won BID-0586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Insurance automation built in</a:t>
                      </a:r>
                    </a:p>
                  </a:txBody>
                  <a:tcPr marL="54864" marR="54864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BFSI (Insurance)</a:t>
                      </a:r>
                    </a:p>
                  </a:txBody>
                  <a:tcPr marL="54864" marR="54864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Won BID-0582; BID-0618 in play</a:t>
                      </a:r>
                    </a:p>
                  </a:txBody>
                  <a:tcPr marL="54864" marR="54864" marT="27432" marB="27432" anchor="ctr">
                    <a:solidFill>
                      <a:srgbClr val="F3F5F8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Regulator-ready lineage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BFSI; Healthcare; Life Sciences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Won BID-0578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Outcome-linked pricing</a:t>
                      </a:r>
                    </a:p>
                  </a:txBody>
                  <a:tcPr marL="54864" marR="54864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Logistics; Manufacturing</a:t>
                      </a:r>
                    </a:p>
                  </a:txBody>
                  <a:tcPr marL="54864" marR="54864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Gap: not offered at Contoso (lost BID-0597)</a:t>
                      </a:r>
                    </a:p>
                  </a:txBody>
                  <a:tcPr marL="54864" marR="54864" marT="27432" marB="27432" anchor="ctr"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24712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0F7C90"/>
                </a:solidFill>
                <a:latin typeface="Arial"/>
              </a:rPr>
              <a:t>GAP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457200" y="566928"/>
            <a:ext cx="11247120" cy="777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1B2A4A"/>
                </a:solidFill>
                <a:latin typeface="Arial"/>
              </a:rPr>
              <a:t>Outcome-linked pricing is the theme we under-use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>Visionet  |  Win Themes Playbook FY2027  |  Fictitious data for testing - Enterprise IQ test corpus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6446520"/>
            <a:ext cx="23317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6B7280"/>
                </a:solidFill>
                <a:latin typeface="Arial"/>
              </a:rPr>
              <a:t>INTERNAL 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400800" cy="43891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marL="256032" indent="-201168">
              <a:spcAft>
                <a:spcPts val="600"/>
              </a:spcAft>
              <a:buChar char="•"/>
            </a:pPr>
            <a:r>
              <a:rPr sz="1600" b="0">
                <a:solidFill>
                  <a:srgbClr val="1F2937"/>
                </a:solidFill>
                <a:latin typeface="Arial"/>
              </a:rPr>
              <a:t>Contoso's CFO was open to outcome-based pricing; no bidder offered it (debrief, 21 Aug)</a:t>
            </a:r>
          </a:p>
          <a:p>
            <a:pPr marL="256032" indent="-201168">
              <a:spcAft>
                <a:spcPts val="600"/>
              </a:spcAft>
              <a:buChar char="•"/>
            </a:pPr>
            <a:r>
              <a:rPr sz="1600" b="0">
                <a:solidFill>
                  <a:srgbClr val="1F2937"/>
                </a:solidFill>
                <a:latin typeface="Arial"/>
              </a:rPr>
              <a:t>Wingtip's outcome bonus on fuel savings is our only live example</a:t>
            </a:r>
          </a:p>
          <a:p>
            <a:pPr marL="256032" indent="-201168">
              <a:spcAft>
                <a:spcPts val="600"/>
              </a:spcAft>
              <a:buChar char="•"/>
            </a:pPr>
            <a:r>
              <a:rPr sz="1600" b="0">
                <a:solidFill>
                  <a:srgbClr val="1F2937"/>
                </a:solidFill>
                <a:latin typeface="Arial"/>
              </a:rPr>
              <a:t>Action: deal desk to publish an outcome-pricing template by 31 Oct</a:t>
            </a:r>
          </a:p>
          <a:p>
            <a:pPr marL="256032" indent="-201168">
              <a:spcAft>
                <a:spcPts val="600"/>
              </a:spcAft>
              <a:buChar char="•"/>
            </a:pPr>
            <a:r>
              <a:rPr sz="1600" b="0">
                <a:solidFill>
                  <a:srgbClr val="1F2937"/>
                </a:solidFill>
                <a:latin typeface="Arial"/>
              </a:rPr>
              <a:t>Use first on Contoso SAP data migration (RFP early Dec) and Wide World renewal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23760" y="1600200"/>
            <a:ext cx="2148840" cy="123444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06640" y="1709928"/>
            <a:ext cx="1783080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1B2A4A"/>
                </a:solidFill>
                <a:latin typeface="Arial"/>
              </a:rPr>
              <a:t>7.4%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0" y="2276856"/>
            <a:ext cx="17830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Arial"/>
              </a:rPr>
              <a:t>Wingtip fuel saving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0" y="2514600"/>
            <a:ext cx="17830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6B7280"/>
                </a:solidFill>
                <a:latin typeface="Arial"/>
              </a:rPr>
              <a:t>basis of outcome bonus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55480" y="1600200"/>
            <a:ext cx="2148840" cy="123444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38360" y="1709928"/>
            <a:ext cx="1783080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1B2A4A"/>
                </a:solidFill>
                <a:latin typeface="Arial"/>
              </a:rPr>
              <a:t>14%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38360" y="2276856"/>
            <a:ext cx="17830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Arial"/>
              </a:rPr>
              <a:t>Contoso price gap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38360" y="2514600"/>
            <a:ext cx="17830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6B7280"/>
                </a:solidFill>
                <a:latin typeface="Arial"/>
              </a:rPr>
              <a:t>lost on price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Win Themes Playbook FY2027</dc:title>
  <dc:subject/>
  <dc:creator>Ravi Shankar</dc:creator>
  <cp:keywords>Enterprise IQ</cp:keywords>
  <dc:description>Fictitious data for testing - Enterprise IQ test corpus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Internal</cp:category>
</cp:coreProperties>
</file>