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1F2937"/>
                </a:solidFill>
              </a:rPr>
              <a:t>Open partner-attached pipeline by partner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Open TCV $M</c:v>
                </c:pt>
              </c:strCache>
            </c:strRef>
          </c:tx>
          <c:spPr>
            <a:solidFill>
              <a:srgbClr val="0F7C90"/>
            </a:solidFill>
          </c:spPr>
          <c:cat>
            <c:strRef>
              <c:f>Sheet1!$A$2:$A$7</c:f>
              <c:strCache>
                <c:ptCount val="6"/>
                <c:pt idx="0">
                  <c:v>Guidewire</c:v>
                </c:pt>
                <c:pt idx="1">
                  <c:v>ServiceNow</c:v>
                </c:pt>
                <c:pt idx="2">
                  <c:v>Snowflake</c:v>
                </c:pt>
                <c:pt idx="3">
                  <c:v>Databricks</c:v>
                </c:pt>
                <c:pt idx="4">
                  <c:v>AWS</c:v>
                </c:pt>
                <c:pt idx="5">
                  <c:v>Microsoft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5.8</c:v>
                </c:pt>
                <c:pt idx="1">
                  <c:v>0.0</c:v>
                </c:pt>
                <c:pt idx="2">
                  <c:v>0.0</c:v>
                </c:pt>
                <c:pt idx="3">
                  <c:v>1.2</c:v>
                </c:pt>
                <c:pt idx="4">
                  <c:v>3.6</c:v>
                </c:pt>
                <c:pt idx="5">
                  <c:v>11.62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5E9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F2937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" y="731520"/>
            <a:ext cx="502920" cy="502920"/>
          </a:xfrm>
          <a:prstGeom prst="ellipse">
            <a:avLst/>
          </a:prstGeom>
          <a:solidFill>
            <a:srgbClr val="0F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25880" y="786384"/>
            <a:ext cx="54864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VISIONET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10515600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Partner Scorecard: Q3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5156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Arial"/>
              </a:rPr>
              <a:t>Pipeline, wins, funding and programme status by partner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120640"/>
            <a:ext cx="105156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AAB4C3"/>
                </a:solidFill>
                <a:latin typeface="Arial"/>
              </a:rPr>
              <a:t>Elena Novak, Alliances Director  |  5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AAB4C3"/>
                </a:solidFill>
                <a:latin typeface="Arial"/>
              </a:rPr>
              <a:t>Visionet  |  Partner Scorecard Q3 2026  |  Fictitious data for testing - Enterprise IQ test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AAB4C3"/>
                </a:solidFill>
                <a:latin typeface="Arial"/>
              </a:rPr>
              <a:t>INTERNAL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HEADLINE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Partners are attached to $22.22M of open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Partner Scorecard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63%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Partner-attached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13 of 20 deals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5868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$515,000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5868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Funding approved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FY2026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C0392B"/>
                </a:solidFill>
                <a:latin typeface="Arial"/>
              </a:rPr>
              <a:t>$95,000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Funding expiring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within 60 days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84564" y="1508760"/>
            <a:ext cx="2647188" cy="12344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444" y="1618488"/>
            <a:ext cx="2281428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E8A33D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7444" y="2185415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Registrations expiring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423160"/>
            <a:ext cx="228142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within 30 days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926080"/>
          <a:ext cx="1124712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DETAIL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Scorecard by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Partner Scorecard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384048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3040"/>
                <a:gridCol w="3291840"/>
                <a:gridCol w="1097280"/>
                <a:gridCol w="1280160"/>
                <a:gridCol w="1280160"/>
                <a:gridCol w="1463040"/>
                <a:gridCol w="13716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Partner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Open deals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Open TCV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Won 2026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Funding approved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Relationship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Microsoft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Solutions Partner (4 designations)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$11.62M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$500,000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$240,000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Strong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AWS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Advanced Tier Services Partner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$3.60M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$1.38M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$235,000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Databricks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Select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$1.20M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$850,000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$40,000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Good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Snowflake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Select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$260,000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Neutral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ServiceNow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Specialist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Weak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Guidewire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PartnerConnect Consulting - Select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$5.80M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-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Building</a:t>
                      </a:r>
                    </a:p>
                  </a:txBody>
                  <a:tcPr marL="54864" marR="54864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F7C90"/>
                </a:solidFill>
                <a:latin typeface="Arial"/>
              </a:rPr>
              <a:t>ACTIONS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1B2A4A"/>
                </a:solidFill>
                <a:latin typeface="Arial"/>
              </a:rPr>
              <a:t>Three actions protect $215K of funding and three deal registrations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>Visionet  |  Partner Scorecard Q3 2026  |  Fictitious data for testing - Enterprise IQ test corpus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6446520"/>
            <a:ext cx="2331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1" i="0">
                <a:solidFill>
                  <a:srgbClr val="6B7280"/>
                </a:solidFill>
                <a:latin typeface="Arial"/>
              </a:rPr>
              <a:t>INTERNAL  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7C90"/>
                </a:solidFill>
                <a:latin typeface="Arial"/>
              </a:rPr>
              <a:t>$95K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01368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Arial"/>
              </a:rPr>
              <a:t>Lamna AMM funding expires 30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28600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Start assessment under LOI or request extension (Hannah Lee)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6324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7C90"/>
                </a:solidFill>
                <a:latin typeface="Arial"/>
              </a:rPr>
              <a:t>$120K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264408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Arial"/>
              </a:rPr>
              <a:t>Woodgrove ECIF claim due 31 Dec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49039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Customer sign-off at POC close-out 13 Nov (Lucia Romero)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201168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F7C90"/>
                </a:solidFill>
                <a:latin typeface="Arial"/>
              </a:rPr>
              <a:t>3 regs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727448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Arial"/>
              </a:rPr>
              <a:t>Registrations lapse in October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12080"/>
            <a:ext cx="85039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Arial"/>
              </a:rPr>
              <a:t>Northwind loyalty (MS, 20 Oct), Trey Snowflake (24 Oct), Tailspin AWS (31 Oct)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 Scorecard Q3 2026</dc:title>
  <dc:subject/>
  <dc:creator>Elena Novak</dc:creator>
  <cp:keywords>Enterprise IQ</cp:keywords>
  <dc:description>Fictitious data for testing - Enterprise IQ test corpus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Internal</cp:category>
</cp:coreProperties>
</file>