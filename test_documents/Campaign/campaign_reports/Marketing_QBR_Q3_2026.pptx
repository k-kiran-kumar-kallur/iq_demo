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MQLs by campaign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MQLs</c:v>
                </c:pt>
              </c:strCache>
            </c:strRef>
          </c:tx>
          <c:spPr>
            <a:solidFill>
              <a:srgbClr val="0F7C90"/>
            </a:solidFill>
          </c:spPr>
          <c:cat>
            <c:strRef>
              <c:f>Sheet1!$A$2:$A$9</c:f>
              <c:strCache>
                <c:ptCount val="8"/>
                <c:pt idx="0">
                  <c:v>Q4 thought leadership</c:v>
                </c:pt>
                <c:pt idx="1">
                  <c:v>GenAI Copilot launch</c:v>
                </c:pt>
                <c:pt idx="2">
                  <c:v>Smart Factory Summit</c:v>
                </c:pt>
                <c:pt idx="3">
                  <c:v>Claims automation eBook</c:v>
                </c:pt>
                <c:pt idx="4">
                  <c:v>Azure migration offer</c:v>
                </c:pt>
                <c:pt idx="5">
                  <c:v>Healthcare roundtable</c:v>
                </c:pt>
                <c:pt idx="6">
                  <c:v>Retail commerce ABM</c:v>
                </c:pt>
                <c:pt idx="7">
                  <c:v>BFSI webinar series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37</c:v>
                </c:pt>
                <c:pt idx="2">
                  <c:v>44</c:v>
                </c:pt>
                <c:pt idx="3">
                  <c:v>118</c:v>
                </c:pt>
                <c:pt idx="4">
                  <c:v>140</c:v>
                </c:pt>
                <c:pt idx="5">
                  <c:v>19</c:v>
                </c:pt>
                <c:pt idx="6">
                  <c:v>58</c:v>
                </c:pt>
                <c:pt idx="7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Team meetings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Meetings booked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marker>
            <c:spPr>
              <a:solidFill>
                <a:srgbClr val="1B2A4A"/>
              </a:solidFill>
              <a:ln>
                <a:solidFill>
                  <a:srgbClr val="1B2A4A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W28</c:v>
                </c:pt>
                <c:pt idx="1">
                  <c:v>W29</c:v>
                </c:pt>
                <c:pt idx="2">
                  <c:v>W30</c:v>
                </c:pt>
                <c:pt idx="3">
                  <c:v>W31</c:v>
                </c:pt>
                <c:pt idx="4">
                  <c:v>W32</c:v>
                </c:pt>
                <c:pt idx="5">
                  <c:v>W33</c:v>
                </c:pt>
                <c:pt idx="6">
                  <c:v>W34</c:v>
                </c:pt>
                <c:pt idx="7">
                  <c:v>W35</c:v>
                </c:pt>
                <c:pt idx="8">
                  <c:v>W36</c:v>
                </c:pt>
                <c:pt idx="9">
                  <c:v>W37</c:v>
                </c:pt>
                <c:pt idx="10">
                  <c:v>W38</c:v>
                </c:pt>
                <c:pt idx="11">
                  <c:v>W39</c:v>
                </c:pt>
                <c:pt idx="12">
                  <c:v>W40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14</c:v>
                </c:pt>
                <c:pt idx="2">
                  <c:v>19</c:v>
                </c:pt>
                <c:pt idx="3">
                  <c:v>15</c:v>
                </c:pt>
                <c:pt idx="4">
                  <c:v>20</c:v>
                </c:pt>
                <c:pt idx="5">
                  <c:v>16</c:v>
                </c:pt>
                <c:pt idx="6">
                  <c:v>20</c:v>
                </c:pt>
                <c:pt idx="7">
                  <c:v>18</c:v>
                </c:pt>
                <c:pt idx="8">
                  <c:v>19</c:v>
                </c:pt>
                <c:pt idx="9">
                  <c:v>15</c:v>
                </c:pt>
                <c:pt idx="10">
                  <c:v>18</c:v>
                </c:pt>
                <c:pt idx="11">
                  <c:v>14</c:v>
                </c:pt>
                <c:pt idx="12">
                  <c:v>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Meetings held</c:v>
                </c:pt>
              </c:strCache>
            </c:strRef>
          </c:tx>
          <c:spPr>
            <a:ln w="31750">
              <a:solidFill>
                <a:srgbClr val="0F7C90"/>
              </a:solidFill>
            </a:ln>
          </c:spPr>
          <c:marker>
            <c:spPr>
              <a:solidFill>
                <a:srgbClr val="0F7C90"/>
              </a:solidFill>
              <a:ln>
                <a:solidFill>
                  <a:srgbClr val="0F7C90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W28</c:v>
                </c:pt>
                <c:pt idx="1">
                  <c:v>W29</c:v>
                </c:pt>
                <c:pt idx="2">
                  <c:v>W30</c:v>
                </c:pt>
                <c:pt idx="3">
                  <c:v>W31</c:v>
                </c:pt>
                <c:pt idx="4">
                  <c:v>W32</c:v>
                </c:pt>
                <c:pt idx="5">
                  <c:v>W33</c:v>
                </c:pt>
                <c:pt idx="6">
                  <c:v>W34</c:v>
                </c:pt>
                <c:pt idx="7">
                  <c:v>W35</c:v>
                </c:pt>
                <c:pt idx="8">
                  <c:v>W36</c:v>
                </c:pt>
                <c:pt idx="9">
                  <c:v>W37</c:v>
                </c:pt>
                <c:pt idx="10">
                  <c:v>W38</c:v>
                </c:pt>
                <c:pt idx="11">
                  <c:v>W39</c:v>
                </c:pt>
                <c:pt idx="12">
                  <c:v>W40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14</c:v>
                </c:pt>
                <c:pt idx="1">
                  <c:v>12</c:v>
                </c:pt>
                <c:pt idx="2">
                  <c:v>16</c:v>
                </c:pt>
                <c:pt idx="3">
                  <c:v>14</c:v>
                </c:pt>
                <c:pt idx="4">
                  <c:v>17</c:v>
                </c:pt>
                <c:pt idx="5">
                  <c:v>13</c:v>
                </c:pt>
                <c:pt idx="6">
                  <c:v>17</c:v>
                </c:pt>
                <c:pt idx="7">
                  <c:v>15</c:v>
                </c:pt>
                <c:pt idx="8">
                  <c:v>16</c:v>
                </c:pt>
                <c:pt idx="9">
                  <c:v>12</c:v>
                </c:pt>
                <c:pt idx="10">
                  <c:v>15</c:v>
                </c:pt>
                <c:pt idx="11">
                  <c:v>13</c:v>
                </c:pt>
                <c:pt idx="12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Marketing &amp; Inside Sales QBR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Q3 2026 results and Q4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Sarah Kim  |  6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Marketing QBR Q3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INTERNAL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HEADLINE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Arial"/>
              </a:rPr>
              <a:t>FY2026 campaigns have sourced $8.20M of pipeline from $334,700 of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Marketing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$334,700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Program spend YTD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8 campaigns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515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MQLs YTD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Feb-Sep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SQLs YTD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accepted by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$8.20M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Pipeline sourced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24x spend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926080"/>
          <a:ext cx="112471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CAMPAIGN EFFICIENCY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Arial"/>
              </a:rPr>
              <a:t>Webinars and roundtables convert best; Smart Factory did not pay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Marketing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05840"/>
                <a:gridCol w="4206240"/>
                <a:gridCol w="1097280"/>
                <a:gridCol w="822960"/>
                <a:gridCol w="822960"/>
                <a:gridCol w="1097280"/>
                <a:gridCol w="100584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MQLs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SQLs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MQL to SQL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CPL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Sourced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BFSI Cloud Data Modernisation Webinar 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$48,500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$505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$2.40M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Retail Unified Commerce ABM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$72,000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$1,241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$2.60M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Healthcare Data &amp; AI Executive Roundtable - Boston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$38,000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$600,000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CMP-2604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Azure Migration Assessment Offer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$56,000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$400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$1.82M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Insurance Claims Automation eBook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$22,000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$780,000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CMP-2606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Smart Factory Summit Sponsorship - Detroit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$64,000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$1,455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GenAI Copilot Accelerator Launch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$30,000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$811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CMP-2608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Q4 Data &amp; AI Thought Leadership (LinkedIn)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$4,200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$1,400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INSIDE SALES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Inside sales meeting volume and quality, W28-W40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Marketing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645920"/>
            <a:ext cx="402336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Connect rate 10.6% of calls in September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No-show rate 14% in September (target under 12%)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Meeting quality 73% accepted by AEs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Aisha Khan had the most AE-accepted meetings in September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Q4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Q4 plan: double down on BFSI and protect existing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Marketing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3619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Fourth BFSI webinar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Guidewire claims data with Guidewire as co-host (Calder, Litware)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7919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Retention plays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Account-team-led plays for Northwind and Wide World instead of ads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Budget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$25,000 from brand awareness (CMP-2608) to BFSI pipeline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96519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No-show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36752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Calendar holds plus a 24-hour confirmation call on every SDR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QBR Q3 2026</dc:title>
  <dc:subject/>
  <dc:creator>Sarah Kim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Internal</cp:category>
</cp:coreProperties>
</file>