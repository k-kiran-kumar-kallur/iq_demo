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7"/>
                </a:solidFill>
              </a:rPr>
              <a:t>Decided bids by service line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Won</c:v>
                </c:pt>
              </c:strCache>
            </c:strRef>
          </c:tx>
          <c:spPr>
            <a:solidFill>
              <a:srgbClr val="0F7C90"/>
            </a:solidFill>
          </c:spPr>
          <c:cat>
            <c:strRef>
              <c:f>Sheet1!$A$2:$A$8</c:f>
              <c:strCache>
                <c:ptCount val="7"/>
                <c:pt idx="0">
                  <c:v>Cloud &amp; Infrastructure</c:v>
                </c:pt>
                <c:pt idx="1">
                  <c:v>Data &amp; AI</c:v>
                </c:pt>
                <c:pt idx="2">
                  <c:v>Application Modernization</c:v>
                </c:pt>
                <c:pt idx="3">
                  <c:v>Digital Commerce</c:v>
                </c:pt>
                <c:pt idx="4">
                  <c:v>Managed Services</c:v>
                </c:pt>
                <c:pt idx="5">
                  <c:v>Cybersecurity</c:v>
                </c:pt>
                <c:pt idx="6">
                  <c:v>Intelligent Automation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6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Lost</c:v>
                </c:pt>
              </c:strCache>
            </c:strRef>
          </c:tx>
          <c:spPr>
            <a:solidFill>
              <a:srgbClr val="C9CED6"/>
            </a:solidFill>
          </c:spPr>
          <c:cat>
            <c:strRef>
              <c:f>Sheet1!$A$2:$A$8</c:f>
              <c:strCache>
                <c:ptCount val="7"/>
                <c:pt idx="0">
                  <c:v>Cloud &amp; Infrastructure</c:v>
                </c:pt>
                <c:pt idx="1">
                  <c:v>Data &amp; AI</c:v>
                </c:pt>
                <c:pt idx="2">
                  <c:v>Application Modernization</c:v>
                </c:pt>
                <c:pt idx="3">
                  <c:v>Digital Commerce</c:v>
                </c:pt>
                <c:pt idx="4">
                  <c:v>Managed Services</c:v>
                </c:pt>
                <c:pt idx="5">
                  <c:v>Cybersecurity</c:v>
                </c:pt>
                <c:pt idx="6">
                  <c:v>Intelligent Automation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4</c:v>
                </c:pt>
                <c:pt idx="2">
                  <c:v>4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1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9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1F293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31520"/>
            <a:ext cx="502920" cy="502920"/>
          </a:xfrm>
          <a:prstGeom prst="ellipse">
            <a:avLst/>
          </a:prstGeom>
          <a:solidFill>
            <a:srgbClr val="0F7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786384"/>
            <a:ext cx="5486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VISIONET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105156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Win/Loss Review: FY2026 year to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94760"/>
            <a:ext cx="105156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Arial"/>
              </a:rPr>
              <a:t>GTM leadership meeting  |  Decisions Jan 2025 -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20640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AB4C3"/>
                </a:solidFill>
                <a:latin typeface="Arial"/>
              </a:rPr>
              <a:t>Prepared by Anita Rao, Bid Manager  |  7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B4C3"/>
                </a:solidFill>
                <a:latin typeface="Arial"/>
              </a:rPr>
              <a:t>Visionet  |  GTM Win/Loss Review, Q3 2026  |  Fictitious data for testing - Enterprise IQ test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AB4C3"/>
                </a:solidFill>
                <a:latin typeface="Arial"/>
              </a:rPr>
              <a:t>INTERNAL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HEADLINE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Competitive win rate is 42%, above the 40%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GTM Win/Loss Review, Q3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INTERNAL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42%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Competitive win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8 won of 19 decided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2988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5868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63%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5868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All bids win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5868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incl. renewals and proactive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$17.86M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Won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since Jan 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4564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444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4 of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7444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Losses with price a factor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7444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debriefs + feedback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971800"/>
          <a:ext cx="112471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LOSS REASONS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Arial"/>
              </a:rPr>
              <a:t>We lose on price and on specialist depth, not 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GTM Win/Loss Review, Q3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INTERNAL 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11247120" cy="294436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188720"/>
                <a:gridCol w="2377440"/>
                <a:gridCol w="2103120"/>
                <a:gridCol w="1463040"/>
                <a:gridCol w="411480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Bid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Account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Winner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Price vs winner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Primary reason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BID-0597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Contoso Manufacturing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Capgemini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+14%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OT/plant-floor references; price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BID-0584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Tailwind Traders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Kyndryl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+11%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Hardware buy-back bundled by winner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BID-0555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Lamna Healthcare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Accenture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+9%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Winner's payer platform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BID-0599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Relecloud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Tech Mahindra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+5%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OSS/BSS depth; BSS product partnership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BID-0569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Relecloud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Slalom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-2%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Snowflake Elite status of winner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BID-0592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Adventure Works Retail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Incumbent extended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+3%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Our timeline 6 weeks longer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09160"/>
            <a:ext cx="1124712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Arial"/>
              </a:rPr>
              <a:t>Architecture scored highest in 3 of the 4 debriefs we held. The pattern is commercial (price, bundles) and specialist credentials (OT, BSS, Snowflake tier).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NEXT STEPS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Four actions for Q4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GTM Win/Loss Review, Q3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INTERNAL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874519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4297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Arial"/>
              </a:rPr>
              <a:t>Outcome-based 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77440"/>
            <a:ext cx="429768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Offer an outcome-linked commercial option on every manufacturing and AMS bid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002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874519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874519"/>
            <a:ext cx="4297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Arial"/>
              </a:rPr>
              <a:t>Specialist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377440"/>
            <a:ext cx="429768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Build OT (Siemens Opcenter) and telecom BSS reference packs with Solutions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11480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114800"/>
            <a:ext cx="4297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Arial"/>
              </a:rPr>
              <a:t>Partner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617720"/>
            <a:ext cx="429768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Close Snowflake Elite and Databricks Elite gaps (Alliances, by FY27 H2)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4048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411480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114800"/>
            <a:ext cx="4297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Arial"/>
              </a:rPr>
              <a:t>Price-to-win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617720"/>
            <a:ext cx="429768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Deal desk price-to-win review for bids above $1M before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GTM Win/Loss Review FY2026 YTD</dc:title>
  <dc:subject/>
  <dc:creator>Anita Rao</dc:creator>
  <cp:keywords>Enterprise IQ</cp:keywords>
  <dc:description>Fictitious data for testing - Enterprise IQ test corpus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Internal</cp:category>
</cp:coreProperties>
</file>