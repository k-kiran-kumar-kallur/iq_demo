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937"/>
                </a:solidFill>
              </a:rPr>
              <a:t>Pipeline and white space ($K)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 $K</c:v>
                </c:pt>
              </c:strCache>
            </c:strRef>
          </c:tx>
          <c:spPr>
            <a:solidFill>
              <a:srgbClr val="1B2A4A"/>
            </a:solidFill>
          </c:spPr>
          <c:cat>
            <c:strRef>
              <c:f>Sheet1!$A$2:$A$6</c:f>
              <c:strCache>
                <c:ptCount val="5"/>
                <c:pt idx="0">
                  <c:v>Data platform (OPP-24120)</c:v>
                </c:pt>
                <c:pt idx="1">
                  <c:v>Managed SOC (OPP-24121)</c:v>
                </c:pt>
                <c:pt idx="2">
                  <c:v>Service desk renewal (CTR-7031)</c:v>
                </c:pt>
                <c:pt idx="3">
                  <c:v>GenAI agent assist (whitespace)</c:v>
                </c:pt>
                <c:pt idx="4">
                  <c:v>Mainframe offload (whitespace)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3100</c:v>
                </c:pt>
                <c:pt idx="1">
                  <c:v>900</c:v>
                </c:pt>
                <c:pt idx="2">
                  <c:v>820</c:v>
                </c:pt>
                <c:pt idx="3">
                  <c:v>450</c:v>
                </c:pt>
                <c:pt idx="4">
                  <c:v>1800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>
                  <a:solidFill>
                    <a:srgbClr val="1F293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5DAE1"/>
            </a:solidFill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5E9EF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1F2937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731520"/>
            <a:ext cx="502920" cy="502920"/>
          </a:xfrm>
          <a:prstGeom prst="ellipse">
            <a:avLst/>
          </a:prstGeom>
          <a:solidFill>
            <a:srgbClr val="0F7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786384"/>
            <a:ext cx="5486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VISIONET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1051560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Woodgrove Bank: Account Plan FY2027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794760"/>
            <a:ext cx="105156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0" i="0">
                <a:solidFill>
                  <a:srgbClr val="CADCFC"/>
                </a:solidFill>
                <a:latin typeface="Arial"/>
              </a:rPr>
              <a:t>Strategic account  |  ACC-1003  |  BFSI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120640"/>
            <a:ext cx="105156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AAB4C3"/>
                </a:solidFill>
                <a:latin typeface="Arial"/>
              </a:rPr>
              <a:t>Marcus Bell, VP Sales BFSI  |  Account review, 2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AB4C3"/>
                </a:solidFill>
                <a:latin typeface="Arial"/>
              </a:rPr>
              <a:t>Visionet  |  Woodgrove Bank account plan FY2027  |  Fictitious data for testing - Enterprise IQ test corpus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46520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AAB4C3"/>
                </a:solidFill>
                <a:latin typeface="Arial"/>
              </a:rPr>
              <a:t>CONFIDENTIAL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F7C90"/>
                </a:solidFill>
                <a:latin typeface="Arial"/>
              </a:rPr>
              <a:t>ACCOUNT SNAPSHOT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Arial"/>
              </a:rPr>
              <a:t>Woodgrove can become a $5M+ account if we win the data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>Visionet  |  Woodgrove Bank account plan FY2027  |  Fictitious data for testing - Enterprise IQ test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46520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Arial"/>
              </a:rPr>
              <a:t>CONFIDENTIAL  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2647188" cy="12344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18488"/>
            <a:ext cx="2281428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Arial"/>
              </a:rPr>
              <a:t>$943,150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85415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rial"/>
              </a:rPr>
              <a:t>Revenue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Arial"/>
              </a:rPr>
              <a:t>service desk + security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2988" y="1508760"/>
            <a:ext cx="2647188" cy="12344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5868" y="1618488"/>
            <a:ext cx="2281428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Arial"/>
              </a:rPr>
              <a:t>$883,784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5868" y="2185415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rial"/>
              </a:rPr>
              <a:t>Revenue 2026 YTD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5868" y="2423160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Arial"/>
              </a:rPr>
              <a:t>Jan-Sep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508760"/>
            <a:ext cx="2647188" cy="12344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1618488"/>
            <a:ext cx="2281428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Arial"/>
              </a:rPr>
              <a:t>$4.0M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2185415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rial"/>
              </a:rPr>
              <a:t>Open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2423160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Arial"/>
              </a:rPr>
              <a:t>2 opportunities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84564" y="1508760"/>
            <a:ext cx="2647188" cy="12344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7444" y="1618488"/>
            <a:ext cx="2281428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E8A33D"/>
                </a:solidFill>
                <a:latin typeface="Arial"/>
              </a:rPr>
              <a:t>Amber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7444" y="2185415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rial"/>
              </a:rPr>
              <a:t>Account health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7444" y="2423160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Arial"/>
              </a:rPr>
              <a:t>68 / 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063240"/>
            <a:ext cx="11247120" cy="30175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56032" indent="-201168">
              <a:spcAft>
                <a:spcPts val="600"/>
              </a:spcAft>
              <a:buChar char="•"/>
            </a:pPr>
            <a:r>
              <a:rPr sz="1500" b="0">
                <a:solidFill>
                  <a:srgbClr val="1F2937"/>
                </a:solidFill>
                <a:latin typeface="Arial"/>
              </a:rPr>
              <a:t>New Chief Data Officer, Catherine Hughes (appointed 3 Aug 2026), has a mandate to consolidate 3 warehouses by 2028</a:t>
            </a:r>
          </a:p>
          <a:p>
            <a:pPr marL="256032" indent="-201168">
              <a:spcAft>
                <a:spcPts val="600"/>
              </a:spcAft>
              <a:buChar char="•"/>
            </a:pPr>
            <a:r>
              <a:rPr sz="1500" b="0">
                <a:solidFill>
                  <a:srgbClr val="1F2937"/>
                </a:solidFill>
                <a:latin typeface="Arial"/>
              </a:rPr>
              <a:t>Enterprise Data Platform RFP (OPP-24120, $3.1M) submitted 25 Sep; BAFO due 14 Oct; decision 20 Nov</a:t>
            </a:r>
          </a:p>
          <a:p>
            <a:pPr marL="256032" indent="-201168">
              <a:spcAft>
                <a:spcPts val="600"/>
              </a:spcAft>
              <a:buChar char="•"/>
            </a:pPr>
            <a:r>
              <a:rPr sz="1500" b="0">
                <a:solidFill>
                  <a:srgbClr val="1F2937"/>
                </a:solidFill>
                <a:latin typeface="Arial"/>
              </a:rPr>
              <a:t>ECIF-funded POC (PRG-2004) shows 4.2x faster card-fraud features; Rachel Adeyemi is our champion</a:t>
            </a:r>
          </a:p>
          <a:p>
            <a:pPr marL="256032" indent="-201168">
              <a:spcAft>
                <a:spcPts val="600"/>
              </a:spcAft>
              <a:buChar char="•"/>
            </a:pPr>
            <a:r>
              <a:rPr sz="1500" b="0">
                <a:solidFill>
                  <a:srgbClr val="1F2937"/>
                </a:solidFill>
                <a:latin typeface="Arial"/>
              </a:rPr>
              <a:t>Q3 2026 results: $400M technology modernisation programme announced on 6 Oct (see earnings brief)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F7C90"/>
                </a:solidFill>
                <a:latin typeface="Arial"/>
              </a:rPr>
              <a:t>STAKEHOLDERS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1B2A4A"/>
                </a:solidFill>
                <a:latin typeface="Arial"/>
              </a:rPr>
              <a:t>Relationship map: strong in engineering, thin with the CISO and sourcing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>Visionet  |  Woodgrove Bank account plan FY2027  |  Fictitious data for testing - Enterprise IQ test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46520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Arial"/>
              </a:rPr>
              <a:t>CONFIDENTIAL  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08760"/>
          <a:ext cx="11247118" cy="27432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410097"/>
                <a:gridCol w="3213462"/>
                <a:gridCol w="2008414"/>
                <a:gridCol w="1606731"/>
                <a:gridCol w="2008414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Stakeholder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Title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Relationship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Visionet owner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Catherine Hughes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Chief Data Officer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Decision maker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Warm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Marcus Bell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Michael Tan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Chief Technology Officer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Economic buyer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Strong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Marcus Bell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Rachel Adeyemi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Head of Data Engineering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Champion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Strong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Lucia Romero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Brian Foster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Director, Strategic Sourcing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Gatekeeper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Neutral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Marcus Bell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Nadia Petrova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CISO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Influencer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Cold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Marcus Bell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480560"/>
            <a:ext cx="1124712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Arial"/>
              </a:rPr>
              <a:t>Gap: CISO Nadia Petrova is cold and will review the data platform's security design. Ask Microsoft (Jessica Wu) for a joint security briefing before the BAFO.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F7C90"/>
                </a:solidFill>
                <a:latin typeface="Arial"/>
              </a:rPr>
              <a:t>GROWTH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Arial"/>
              </a:rPr>
              <a:t>Pipeline and white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>Visionet  |  Woodgrove Bank account plan FY2027  |  Fictitious data for testing - Enterprise IQ test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46520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Arial"/>
              </a:rPr>
              <a:t>CONFIDENTIAL   4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676656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98079" y="1645920"/>
            <a:ext cx="4206240" cy="45720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56032" indent="-201168">
              <a:spcAft>
                <a:spcPts val="600"/>
              </a:spcAft>
              <a:buChar char="•"/>
            </a:pPr>
            <a:r>
              <a:rPr sz="1400" b="0">
                <a:solidFill>
                  <a:srgbClr val="1F2937"/>
                </a:solidFill>
                <a:latin typeface="Arial"/>
              </a:rPr>
              <a:t>Win the data platform first: it anchors 2027-2029 revenue</a:t>
            </a:r>
          </a:p>
          <a:p>
            <a:pPr marL="256032" indent="-201168">
              <a:spcAft>
                <a:spcPts val="600"/>
              </a:spcAft>
              <a:buChar char="•"/>
            </a:pPr>
            <a:r>
              <a:rPr sz="1400" b="0">
                <a:solidFill>
                  <a:srgbClr val="1F2937"/>
                </a:solidFill>
                <a:latin typeface="Arial"/>
              </a:rPr>
              <a:t>Bundle the service desk renewal (Jan 2027) into the platform award</a:t>
            </a:r>
          </a:p>
          <a:p>
            <a:pPr marL="256032" indent="-201168">
              <a:spcAft>
                <a:spcPts val="600"/>
              </a:spcAft>
              <a:buChar char="•"/>
            </a:pPr>
            <a:r>
              <a:rPr sz="1400" b="0">
                <a:solidFill>
                  <a:srgbClr val="1F2937"/>
                </a:solidFill>
                <a:latin typeface="Arial"/>
              </a:rPr>
              <a:t>MXDR needs CISO sponsorship - not before Q2 FY27</a:t>
            </a:r>
          </a:p>
          <a:p>
            <a:pPr marL="256032" indent="-201168">
              <a:spcAft>
                <a:spcPts val="600"/>
              </a:spcAft>
              <a:buChar char="•"/>
            </a:pPr>
            <a:r>
              <a:rPr sz="1400" b="0">
                <a:solidFill>
                  <a:srgbClr val="1F2937"/>
                </a:solidFill>
                <a:latin typeface="Arial"/>
              </a:rPr>
              <a:t>Mainframe offload: Woodgrove runs core banking on z/OS (Fiserv)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F7C90"/>
                </a:solidFill>
                <a:latin typeface="Arial"/>
              </a:rPr>
              <a:t>PLAN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Arial"/>
              </a:rPr>
              <a:t>Actions for the next 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>Visionet  |  Woodgrove Bank account plan FY2027  |  Fictitious data for testing - Enterprise IQ test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46520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Arial"/>
              </a:rPr>
              <a:t>CONFIDENTIAL   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301752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280160"/>
                <a:gridCol w="7315200"/>
                <a:gridCol w="265176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Due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Action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14 Oct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Submit BAFO with team continuity from the POC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Marcus Bell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21 Oct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Joint Microsoft security briefing for CISO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Elena Novak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31 Oct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Executive dinner: Laura Chen with Michael Tan (CTO)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Laura Chen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13 Nov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POC close-out readout to Catherine Hughes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Lucia Romero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20 Nov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Award decision expected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Arial"/>
                        </a:rPr>
                        <a:t>Marcus Bell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Woodgrove Bank Account Plan FY2027</dc:title>
  <dc:subject/>
  <dc:creator>Marcus Bell</dc:creator>
  <cp:keywords>Enterprise IQ</cp:keywords>
  <dc:description>Fictitious data for testing - Enterprise IQ test corpus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Confidential</cp:category>
</cp:coreProperties>
</file>